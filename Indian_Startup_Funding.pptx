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73ea5444-110d-c954-c334-b329d82fec45}">
          <p14:sldIdLst>
            <p14:sldId id="256"/>
            <p14:sldId id="257"/>
          </p14:sldIdLst>
        </p14:section>
        <p14:section name="Market" id="{49f611ee-b27e-b9b6-3291-9719073be9e4}">
          <p14:sldIdLst>
            <p14:sldId id="258"/>
            <p14:sldId id="259"/>
            <p14:sldId id="260"/>
            <p14:sldId id="261"/>
          </p14:sldIdLst>
        </p14:section>
        <p14:section name="Close" id="{242faa4f-c3ed-cb82-e9ae-d8b3ec69ad4f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Amount (bn)</c:v>
                </c:pt>
              </c:strCache>
            </c:strRef>
          </c:tx>
          <c:spPr>
            <a:solidFill>
              <a:srgbClr val="9B6BD3"/>
            </a:solidFill>
            <a:effectLst/>
          </c:spPr>
          <c:invertIfNegative val="0"/>
          <c:dLbls>
            <c:numFmt formatCode="0.0&quot;bn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0B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Pune</c:v>
                  </c:pt>
                  <c:pt idx="1">
                    <c:v>Kolkata</c:v>
                  </c:pt>
                  <c:pt idx="2">
                    <c:v>Delhi</c:v>
                  </c:pt>
                  <c:pt idx="3">
                    <c:v>Gurugram</c:v>
                  </c:pt>
                  <c:pt idx="4">
                    <c:v>Chennai</c:v>
                  </c:pt>
                  <c:pt idx="5">
                    <c:v>Bengaluru</c:v>
                  </c:pt>
                  <c:pt idx="6">
                    <c:v>Ahmedabad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4.4</c:v>
                </c:pt>
                <c:pt idx="1">
                  <c:v>3.6</c:v>
                </c:pt>
                <c:pt idx="2">
                  <c:v>3.4</c:v>
                </c:pt>
                <c:pt idx="3">
                  <c:v>3.1</c:v>
                </c:pt>
                <c:pt idx="4">
                  <c:v>2.7</c:v>
                </c:pt>
                <c:pt idx="5">
                  <c:v>2.6</c:v>
                </c:pt>
                <c:pt idx="6">
                  <c:v>2.5</c:v>
                </c:pt>
              </c:numCache>
            </c:numRef>
          </c:val>
        </c:ser>
        <c:dLbls>
          <c:numFmt formatCode="0.0&quot;bn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E0B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35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35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B1659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FFB400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E0457B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9B6BD3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C9B6E4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Series C</c:v>
                </c:pt>
                <c:pt idx="1">
                  <c:v>Growth</c:v>
                </c:pt>
                <c:pt idx="2">
                  <c:v>Series D</c:v>
                </c:pt>
                <c:pt idx="3">
                  <c:v>Series B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33.59</c:v>
                </c:pt>
                <c:pt idx="1">
                  <c:v>25.29</c:v>
                </c:pt>
                <c:pt idx="2">
                  <c:v>19.51</c:v>
                </c:pt>
                <c:pt idx="3">
                  <c:v>11.38</c:v>
                </c:pt>
                <c:pt idx="4">
                  <c:v>10.23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A356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Deals</c:v>
                </c:pt>
              </c:strCache>
            </c:strRef>
          </c:tx>
          <c:spPr>
            <a:solidFill>
              <a:srgbClr val="FFB4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0B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E-commerce</c:v>
                  </c:pt>
                  <c:pt idx="1">
                    <c:v>Retail</c:v>
                  </c:pt>
                  <c:pt idx="2">
                    <c:v>Consumer Elec.</c:v>
                  </c:pt>
                  <c:pt idx="3">
                    <c:v>Mobility</c:v>
                  </c:pt>
                  <c:pt idx="4">
                    <c:v>Media</c:v>
                  </c:pt>
                  <c:pt idx="5">
                    <c:v>AgriTech</c:v>
                  </c:pt>
                  <c:pt idx="6">
                    <c:v>FoodTech</c:v>
                  </c:pt>
                  <c:pt idx="7">
                    <c:v>RealEstate</c:v>
                  </c:pt>
                  <c:pt idx="8">
                    <c:v>EdTech</c:v>
                  </c:pt>
                  <c:pt idx="9">
                    <c:v>HealthTech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90</c:v>
                </c:pt>
                <c:pt idx="1">
                  <c:v>89</c:v>
                </c:pt>
                <c:pt idx="2">
                  <c:v>87</c:v>
                </c:pt>
                <c:pt idx="3">
                  <c:v>86</c:v>
                </c:pt>
                <c:pt idx="4">
                  <c:v>85</c:v>
                </c:pt>
                <c:pt idx="5">
                  <c:v>82</c:v>
                </c:pt>
                <c:pt idx="6">
                  <c:v>80</c:v>
                </c:pt>
                <c:pt idx="7">
                  <c:v>79</c:v>
                </c:pt>
                <c:pt idx="8">
                  <c:v>78</c:v>
                </c:pt>
                <c:pt idx="9">
                  <c:v>76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0B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35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35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Seed</c:v>
                </c:pt>
              </c:strCache>
            </c:strRef>
          </c:tx>
          <c:spPr>
            <a:solidFill>
              <a:srgbClr val="E0457B"/>
            </a:solidFill>
            <a:ln w="38100" cap="flat">
              <a:solidFill>
                <a:srgbClr val="E0457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0B2E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E0457B"/>
              </a:solidFill>
              <a:ln w="9525" cap="flat">
                <a:solidFill>
                  <a:srgbClr val="E0457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2025*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70</c:v>
                </c:pt>
                <c:pt idx="1">
                  <c:v>53</c:v>
                </c:pt>
                <c:pt idx="2">
                  <c:v>69</c:v>
                </c:pt>
                <c:pt idx="3">
                  <c:v>63</c:v>
                </c:pt>
                <c:pt idx="4">
                  <c:v>74</c:v>
                </c:pt>
                <c:pt idx="5">
                  <c:v>24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3B1659"/>
            </a:solidFill>
            <a:ln w="38100" cap="flat">
              <a:solidFill>
                <a:srgbClr val="3B165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0B2E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3B1659"/>
              </a:solidFill>
              <a:ln w="9525" cap="flat">
                <a:solidFill>
                  <a:srgbClr val="3B165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2025*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41</c:v>
                </c:pt>
                <c:pt idx="1">
                  <c:v>34</c:v>
                </c:pt>
                <c:pt idx="2">
                  <c:v>46</c:v>
                </c:pt>
                <c:pt idx="3">
                  <c:v>43</c:v>
                </c:pt>
                <c:pt idx="4">
                  <c:v>48</c:v>
                </c:pt>
                <c:pt idx="5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0B2E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35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0"/>
        </c:scaling>
        <c:delete val="0"/>
        <c:axPos val="l"/>
        <c:majorGridlines>
          <c:spPr>
            <a:ln w="6350" cap="flat">
              <a:solidFill>
                <a:srgbClr val="DCCF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35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4A356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 %</c:v>
                </c:pt>
              </c:strCache>
            </c:strRef>
          </c:tx>
          <c:spPr>
            <a:solidFill>
              <a:srgbClr val="9B6BD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0B2E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Sheet1!$A$2:$A$15</c:f>
              <c:multiLvlStrCache>
                <c:ptCount val="14"/>
                <c:lvl>
                  <c:pt idx="0">
                    <c:v>Enterprise</c:v>
                  </c:pt>
                  <c:pt idx="1">
                    <c:v>Mobility</c:v>
                  </c:pt>
                  <c:pt idx="2">
                    <c:v>FoodTech</c:v>
                  </c:pt>
                  <c:pt idx="3">
                    <c:v>HealthTech</c:v>
                  </c:pt>
                  <c:pt idx="4">
                    <c:v>E-commerce</c:v>
                  </c:pt>
                  <c:pt idx="5">
                    <c:v>RealEstate</c:v>
                  </c:pt>
                  <c:pt idx="6">
                    <c:v>AgriTech</c:v>
                  </c:pt>
                  <c:pt idx="7">
                    <c:v>Retail</c:v>
                  </c:pt>
                  <c:pt idx="8">
                    <c:v>Media</c:v>
                  </c:pt>
                  <c:pt idx="9">
                    <c:v>Logistics</c:v>
                  </c:pt>
                  <c:pt idx="10">
                    <c:v>EdTech</c:v>
                  </c:pt>
                  <c:pt idx="11">
                    <c:v>SaaS</c:v>
                  </c:pt>
                  <c:pt idx="12">
                    <c:v>FinTech</c:v>
                  </c:pt>
                  <c:pt idx="13">
                    <c:v>Cons. Elec.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100</c:v>
                </c:pt>
                <c:pt idx="1">
                  <c:v>100</c:v>
                </c:pt>
                <c:pt idx="2">
                  <c:v>95.5</c:v>
                </c:pt>
                <c:pt idx="3">
                  <c:v>77.3</c:v>
                </c:pt>
                <c:pt idx="4">
                  <c:v>70.4</c:v>
                </c:pt>
                <c:pt idx="5">
                  <c:v>65.5</c:v>
                </c:pt>
                <c:pt idx="6">
                  <c:v>64.3</c:v>
                </c:pt>
                <c:pt idx="7">
                  <c:v>62.5</c:v>
                </c:pt>
                <c:pt idx="8">
                  <c:v>55.6</c:v>
                </c:pt>
                <c:pt idx="9">
                  <c:v>55</c:v>
                </c:pt>
                <c:pt idx="10">
                  <c:v>53.8</c:v>
                </c:pt>
                <c:pt idx="11">
                  <c:v>45.8</c:v>
                </c:pt>
                <c:pt idx="12">
                  <c:v>42.9</c:v>
                </c:pt>
                <c:pt idx="13">
                  <c:v>38.9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0B2E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900000"/>
          <a:lstStyle/>
          <a:p>
            <a:pPr>
              <a:defRPr sz="1000" b="0" i="0" u="none" strike="noStrike">
                <a:solidFill>
                  <a:srgbClr val="4A35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CCF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35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Deals</c:v>
                </c:pt>
              </c:strCache>
            </c:strRef>
          </c:tx>
          <c:spPr>
            <a:solidFill>
              <a:srgbClr val="FFB4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Info Edge</c:v>
                  </c:pt>
                  <c:pt idx="1">
                    <c:v>Zodius Capital</c:v>
                  </c:pt>
                  <c:pt idx="2">
                    <c:v>Kalaari Capital</c:v>
                  </c:pt>
                  <c:pt idx="3">
                    <c:v>Elevation Capital</c:v>
                  </c:pt>
                  <c:pt idx="4">
                    <c:v>Y Combinator</c:v>
                  </c:pt>
                  <c:pt idx="5">
                    <c:v>Accel</c:v>
                  </c:pt>
                  <c:pt idx="6">
                    <c:v>Sequoia Capital India</c:v>
                  </c:pt>
                  <c:pt idx="7">
                    <c:v>Mirae Asset</c:v>
                  </c:pt>
                  <c:pt idx="8">
                    <c:v>Blume Ventures</c:v>
                  </c:pt>
                  <c:pt idx="9">
                    <c:v>Tiger Global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29</c:v>
                </c:pt>
                <c:pt idx="1">
                  <c:v>27</c:v>
                </c:pt>
                <c:pt idx="2">
                  <c:v>26</c:v>
                </c:pt>
                <c:pt idx="3">
                  <c:v>25</c:v>
                </c:pt>
                <c:pt idx="4">
                  <c:v>25</c:v>
                </c:pt>
                <c:pt idx="5">
                  <c:v>24</c:v>
                </c:pt>
                <c:pt idx="6">
                  <c:v>24</c:v>
                </c:pt>
                <c:pt idx="7">
                  <c:v>23</c:v>
                </c:pt>
                <c:pt idx="8">
                  <c:v>22</c:v>
                </c:pt>
                <c:pt idx="9">
                  <c:v>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E6D9F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E6D9F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E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371600"/>
            <a:ext cx="8229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4EE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T">
    <p:bg>
      <p:bgPr>
        <a:solidFill>
          <a:srgbClr val="1E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1097280"/>
            <a:ext cx="4572000" cy="4572000"/>
          </a:xfrm>
          <a:prstGeom prst="ellipse">
            <a:avLst/>
          </a:prstGeom>
          <a:solidFill>
            <a:schemeClr val="accent1">
              <a:alpha val="88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377440"/>
            <a:ext cx="3291840" cy="3291840"/>
          </a:xfrm>
          <a:prstGeom prst="ellipse">
            <a:avLst/>
          </a:prstGeom>
          <a:solidFill>
            <a:schemeClr val="accent2">
              <a:alpha val="7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94960" y="3200400"/>
            <a:ext cx="1463040" cy="1463040"/>
          </a:xfrm>
          <a:prstGeom prst="ellipse">
            <a:avLst/>
          </a:prstGeom>
          <a:solidFill>
            <a:schemeClr val="accent3">
              <a:alpha val="7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1"/>
                </a:solidFill>
              </a:rPr>
              <a:t>TIMES OF STARTUP INDIA</a:t>
            </a:r>
            <a:endParaRPr lang="en-US" sz="14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457200" y="137160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Indian Startup Funding Landscape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0175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1,100 deals · 180 startups · 423 investors · 2020–2025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9319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PROVIDED BY</a:t>
            </a:r>
            <a:endParaRPr lang="en-US" sz="11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Nikki Kumar Mandal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 market of 1,100 deals and 28bn invested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554480" cy="13716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3B1659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51560" y="1481328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90195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1,100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3591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Total deals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39696" y="1371600"/>
            <a:ext cx="1554480" cy="13716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3B1659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34056" y="1481328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39696" y="190195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28bn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2139696" y="23591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Investor amount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822192" y="1371600"/>
            <a:ext cx="1554480" cy="13716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3B1659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16552" y="1481328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822192" y="190195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180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3822192" y="23591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Unique startups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504688" y="1371600"/>
            <a:ext cx="1554480" cy="13716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3B1659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99048" y="1481328"/>
            <a:ext cx="365760" cy="3657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04688" y="190195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423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5504688" y="23591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Unique investors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187184" y="1371600"/>
            <a:ext cx="1554480" cy="13716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3B1659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81544" y="1481328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87184" y="190195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353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7187184" y="23591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Seed deals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063240"/>
            <a:ext cx="1920240" cy="82296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25400" dir="5400000">
              <a:srgbClr val="3B1659">
                <a:alpha val="1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594360" y="31546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25.53M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594360" y="3566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Avg investment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560320" y="3063240"/>
            <a:ext cx="1920240" cy="82296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25400" dir="5400000">
              <a:srgbClr val="3B1659">
                <a:alpha val="18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2697480" y="31546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20.64%</a:t>
            </a:r>
            <a:endParaRPr lang="en-US" sz="2400" dirty="0"/>
          </a:p>
        </p:txBody>
      </p:sp>
      <p:sp>
        <p:nvSpPr>
          <p:cNvPr id="28" name="Text 26"/>
          <p:cNvSpPr txBox="1"/>
          <p:nvPr/>
        </p:nvSpPr>
        <p:spPr>
          <a:xfrm>
            <a:off x="2697480" y="3566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Series A share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63440" y="3063240"/>
            <a:ext cx="1920240" cy="82296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25400" dir="5400000">
              <a:srgbClr val="3B1659">
                <a:alpha val="18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4800600" y="31546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400" dirty="0"/>
          </a:p>
        </p:txBody>
      </p:sp>
      <p:sp>
        <p:nvSpPr>
          <p:cNvPr id="31" name="Text 29"/>
          <p:cNvSpPr txBox="1"/>
          <p:nvPr/>
        </p:nvSpPr>
        <p:spPr>
          <a:xfrm>
            <a:off x="4800600" y="3566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Cities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766560" y="3063240"/>
            <a:ext cx="1920240" cy="82296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25400" dir="5400000">
              <a:srgbClr val="3B1659">
                <a:alpha val="18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6903720" y="31546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2400" dirty="0"/>
          </a:p>
        </p:txBody>
      </p:sp>
      <p:sp>
        <p:nvSpPr>
          <p:cNvPr id="34" name="Text 32"/>
          <p:cNvSpPr txBox="1"/>
          <p:nvPr/>
        </p:nvSpPr>
        <p:spPr>
          <a:xfrm>
            <a:off x="6903720" y="3566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Industries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4114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Funding is broad-based: no single industry holds more than 8.18% of deals.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Pune leads capital; Tier-1 cities lead deals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5120640" cy="3383280"/>
          </a:xfrm>
          <a:prstGeom prst="roundRect">
            <a:avLst>
              <a:gd name="adj" fmla="val 405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3B1659">
                <a:alpha val="1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Investor amount by city (bn)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45920"/>
          <a:ext cx="49377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852160" y="1280160"/>
            <a:ext cx="2834640" cy="160020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25400" dir="5400000">
              <a:srgbClr val="3B1659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035040" y="13716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887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6035040" y="20574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Tier-1 deals, reaching 170 startups (81% of all deals)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852160" y="3063240"/>
            <a:ext cx="2834640" cy="160020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3B1659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035040" y="3154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213</a:t>
            </a:r>
            <a:endParaRPr lang="en-US" sz="4400" dirty="0"/>
          </a:p>
        </p:txBody>
      </p:sp>
      <p:sp>
        <p:nvSpPr>
          <p:cNvPr id="11" name="Text 8"/>
          <p:cNvSpPr txBox="1"/>
          <p:nvPr/>
        </p:nvSpPr>
        <p:spPr>
          <a:xfrm>
            <a:off x="6035040" y="38404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Rest of India deals, reaching 113 startups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Late-stage rounds hold the money; deals are evenly spread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840480" cy="3383280"/>
          </a:xfrm>
          <a:prstGeom prst="roundRect">
            <a:avLst>
              <a:gd name="adj" fmla="val 405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3B1659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480560" y="1280160"/>
            <a:ext cx="4206240" cy="3383280"/>
          </a:xfrm>
          <a:prstGeom prst="roundRect">
            <a:avLst>
              <a:gd name="adj" fmla="val 405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3B1659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Capital by investment type (%)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645920"/>
          <a:ext cx="36576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663440" y="1371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Deals by industry (top 10)</a:t>
            </a:r>
            <a:endParaRPr lang="en-US" sz="12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4572000" y="1645920"/>
          <a:ext cx="40233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Seed rounds consistently outnumber Series rounds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5486400" cy="3383280"/>
          </a:xfrm>
          <a:prstGeom prst="roundRect">
            <a:avLst>
              <a:gd name="adj" fmla="val 405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3B1659">
                <a:alpha val="18000"/>
              </a:srgbClr>
            </a:outerShdw>
          </a:effectLst>
        </p:spPr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53035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217920" y="1280160"/>
            <a:ext cx="2468880" cy="160020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25400" dir="5400000">
              <a:srgbClr val="3B1659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400800" y="13716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32.09%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6400800" y="21031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of deals are Seed (353 rounds)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17920" y="3063240"/>
            <a:ext cx="2468880" cy="160020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3B1659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400800" y="31546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20.64%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6400800" y="38404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are Series A (227 rounds). 2025* is a partial year.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Conversion to next round varies from 39% to 100%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5669280" cy="3383280"/>
          </a:xfrm>
          <a:prstGeom prst="roundRect">
            <a:avLst>
              <a:gd name="adj" fmla="val 405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3B1659">
                <a:alpha val="1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Industry conversion rate (%)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45920"/>
          <a:ext cx="5486400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400800" y="1280160"/>
            <a:ext cx="2286000" cy="160020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25400" dir="5400000">
              <a:srgbClr val="3B1659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583680" y="13716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583680" y="20574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Enterprise and Mobility convert every deal, with a 0% funding gap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0" y="3063240"/>
            <a:ext cx="2286000" cy="160020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3B1659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583680" y="31546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25.3%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6583680" y="38404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Consumer Electronics has the widest gap, at 38.9% conversion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Who is backing India’s startups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Top 10 investors by total deals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554480"/>
          <a:ext cx="493776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577840" y="1371600"/>
            <a:ext cx="3108960" cy="96012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25400" dir="5400000">
              <a:srgbClr val="3B1659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715000" y="162763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715000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309360" y="14630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Spread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No industry exceeds 8.18% of deals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577840" y="2468880"/>
            <a:ext cx="3108960" cy="96012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25400" dir="5400000">
              <a:srgbClr val="3B1659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15000" y="2724912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715000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309360" y="2560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Hiring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93–95% of rounds in every city carry high hire priority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577840" y="3566160"/>
            <a:ext cx="3108960" cy="96012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25400" dir="5400000">
              <a:srgbClr val="3B1659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715000" y="3822192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715000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6309360" y="36576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Peak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30 deals in a single month (2022); 1,293M invested in the peak month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Provided by Nikki Kumar Mandal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bergine Marigold">
  <a:themeElements>
    <a:clrScheme name="Aubergine Marigold">
      <a:dk1>
        <a:srgbClr val="1E0B2E"/>
      </a:dk1>
      <a:lt1>
        <a:srgbClr val="FFFFFF"/>
      </a:lt1>
      <a:dk2>
        <a:srgbClr val="3B1659"/>
      </a:dk2>
      <a:lt2>
        <a:srgbClr val="F4EEFA"/>
      </a:lt2>
      <a:accent1>
        <a:srgbClr val="FFB400"/>
      </a:accent1>
      <a:accent2>
        <a:srgbClr val="E0457B"/>
      </a:accent2>
      <a:accent3>
        <a:srgbClr val="9B6BD3"/>
      </a:accent3>
      <a:accent4>
        <a:srgbClr val="2EC4B6"/>
      </a:accent4>
      <a:accent5>
        <a:srgbClr val="FF7A59"/>
      </a:accent5>
      <a:accent6>
        <a:srgbClr val="C9B6E4"/>
      </a:accent6>
      <a:hlink>
        <a:srgbClr val="9B6BD3"/>
      </a:hlink>
      <a:folHlink>
        <a:srgbClr val="C9B6E4"/>
      </a:folHlink>
    </a:clrScheme>
    <a:fontScheme name="Aubergine Marigol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Indian Startup Funding Landscape</dc:title>
  <dc:subject>PptxGenJS Presentation</dc:subject>
  <dc:creator>Nikki Kumar Mandal</dc:creator>
  <cp:lastModifiedBy>Nikki Kumar Mandal</cp:lastModifiedBy>
  <cp:revision>1</cp:revision>
  <dcterms:created xsi:type="dcterms:W3CDTF">2026-10-18T04:57:16Z</dcterms:created>
  <dcterms:modified xsi:type="dcterms:W3CDTF">2026-10-18T04:57:16Z</dcterms:modified>
</cp:coreProperties>
</file>